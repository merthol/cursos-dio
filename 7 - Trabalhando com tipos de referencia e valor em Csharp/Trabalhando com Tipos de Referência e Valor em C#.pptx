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6858000" cy="9144000"/>
  <p:embeddedFontLst>
    <p:embeddedFont>
      <p:font typeface="Proxima Nova"/>
      <p:regular r:id="rId52"/>
      <p:bold r:id="rId53"/>
      <p:italic r:id="rId54"/>
      <p:boldItalic r:id="rId55"/>
    </p:embeddedFont>
    <p:embeddedFont>
      <p:font typeface="Century Gothic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ProximaNova-bold.fntdata"/><Relationship Id="rId52" Type="http://schemas.openxmlformats.org/officeDocument/2006/relationships/font" Target="fonts/ProximaNova-regular.fntdata"/><Relationship Id="rId11" Type="http://schemas.openxmlformats.org/officeDocument/2006/relationships/slide" Target="slides/slide6.xml"/><Relationship Id="rId55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54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57" Type="http://schemas.openxmlformats.org/officeDocument/2006/relationships/font" Target="fonts/CenturyGothic-bold.fntdata"/><Relationship Id="rId12" Type="http://schemas.openxmlformats.org/officeDocument/2006/relationships/slide" Target="slides/slide7.xml"/><Relationship Id="rId56" Type="http://schemas.openxmlformats.org/officeDocument/2006/relationships/font" Target="fonts/CenturyGothic-regular.fntdata"/><Relationship Id="rId15" Type="http://schemas.openxmlformats.org/officeDocument/2006/relationships/slide" Target="slides/slide10.xml"/><Relationship Id="rId59" Type="http://schemas.openxmlformats.org/officeDocument/2006/relationships/font" Target="fonts/CenturyGothic-boldItalic.fntdata"/><Relationship Id="rId14" Type="http://schemas.openxmlformats.org/officeDocument/2006/relationships/slide" Target="slides/slide9.xml"/><Relationship Id="rId58" Type="http://schemas.openxmlformats.org/officeDocument/2006/relationships/font" Target="fonts/CenturyGothic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f5814ba15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gf5814ba1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6b2febfd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f6b2febf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6b2febfd6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f6b2febfd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70a7a2ea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f70a7a2e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f70a7a2eaa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f70a7a2ea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f70a7a2eaa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f70a7a2ea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f70a7a2eaa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f70a7a2ea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99d84a06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f99d84a0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f365417c7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f365417c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f924a3233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f924a323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f365417c7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f365417c7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f365417c7c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f365417c7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b0ef3a0b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fb0ef3a0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f6585b735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f6585b73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fadf61a03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fadf61a0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f924a3233a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f924a3233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924a3233a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f924a3233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f924a3233a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f924a3233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f924a3233a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f924a3233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92fa7635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f92fa763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fcacde7e2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fcacde7e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fcacde7e2a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fcacde7e2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f9aae2d95b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f9aae2d95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f92fa76357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f92fa7635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f9aae2d95b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f9aae2d95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f9aae2d95b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f9aae2d95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f9aae2d95b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f9aae2d95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fcdf9b853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fcdf9b85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fcdf9b853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fcdf9b853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f9aae2d95b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f9aae2d95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f9aae2d95b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f9aae2d95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fcdf9b8539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fcdf9b853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fcdf9b8539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fcdf9b853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fcdf9b8539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fcdf9b853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fcdf9b8539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fcdf9b853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fcdf9b8539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fcdf9b853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fcdf9b8539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fcdf9b853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fcdf9b8539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fcdf9b853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fcdf9b8539_0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fcdf9b853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fcdf9b8539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fcdf9b853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fcdf9b8539_0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fcdf9b853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fcdf9b853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fcdf9b853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p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www.linkedin.com/in/ricardovicentini/" TargetMode="External"/><Relationship Id="rId9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hyperlink" Target="https://github.com/ricardovicentini/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ricardovicentini.github.io/hardycode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hyperlink" Target="https://docs.microsoft.com/en-us/dotnet/csharp/fundamentals/types/#the-common-type-syste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7.gif"/><Relationship Id="rId5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7.gif"/><Relationship Id="rId5" Type="http://schemas.openxmlformats.org/officeDocument/2006/relationships/image" Target="../media/image5.jpg"/><Relationship Id="rId6" Type="http://schemas.openxmlformats.org/officeDocument/2006/relationships/hyperlink" Target="http://drive.google.com/file/d/13pRsbBS7i7kzuY5ejCEdGaUQqK4PlD-4/view" TargetMode="External"/><Relationship Id="rId7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hyperlink" Target="https://docs.microsoft.com/en-us/dotnet/csharp/fundamentals/types/#the-common-type-system" TargetMode="External"/><Relationship Id="rId5" Type="http://schemas.openxmlformats.org/officeDocument/2006/relationships/hyperlink" Target="https://github.com/ricardovicentini/Demos-Reference-And-Value-Type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7.gif"/><Relationship Id="rId5" Type="http://schemas.openxmlformats.org/officeDocument/2006/relationships/image" Target="../media/image5.jpg"/><Relationship Id="rId6" Type="http://schemas.openxmlformats.org/officeDocument/2006/relationships/hyperlink" Target="http://drive.google.com/file/d/13pRsbBS7i7kzuY5ejCEdGaUQqK4PlD-4/view" TargetMode="External"/><Relationship Id="rId7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hyperlink" Target="https://docs.microsoft.com/en-us/dotnet/csharp/language-reference/keywords/ref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7.gif"/><Relationship Id="rId5" Type="http://schemas.openxmlformats.org/officeDocument/2006/relationships/image" Target="../media/image5.jpg"/><Relationship Id="rId6" Type="http://schemas.openxmlformats.org/officeDocument/2006/relationships/hyperlink" Target="http://drive.google.com/file/d/13pRsbBS7i7kzuY5ejCEdGaUQqK4PlD-4/view" TargetMode="External"/><Relationship Id="rId7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hyperlink" Target="https://docs.microsoft.com/en-us/dotnet/api/system.span-1?view=net-5.0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7.gif"/><Relationship Id="rId5" Type="http://schemas.openxmlformats.org/officeDocument/2006/relationships/image" Target="../media/image5.jpg"/><Relationship Id="rId6" Type="http://schemas.openxmlformats.org/officeDocument/2006/relationships/hyperlink" Target="http://drive.google.com/file/d/13pRsbBS7i7kzuY5ejCEdGaUQqK4PlD-4/view" TargetMode="External"/><Relationship Id="rId7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7.gif"/><Relationship Id="rId5" Type="http://schemas.openxmlformats.org/officeDocument/2006/relationships/image" Target="../media/image5.jpg"/><Relationship Id="rId6" Type="http://schemas.openxmlformats.org/officeDocument/2006/relationships/hyperlink" Target="http://drive.google.com/file/d/13pRsbBS7i7kzuY5ejCEdGaUQqK4PlD-4/view" TargetMode="External"/><Relationship Id="rId7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Relationship Id="rId4" Type="http://schemas.openxmlformats.org/officeDocument/2006/relationships/hyperlink" Target="https://docs.microsoft.com/pt-br/dotnet/csharp/language-reference/keywords/reference-types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Relationship Id="rId4" Type="http://schemas.openxmlformats.org/officeDocument/2006/relationships/hyperlink" Target="https://github.com/ricardovicentini/Reference-Type-And-Value-Type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ctrTitle"/>
          </p:nvPr>
        </p:nvSpPr>
        <p:spPr>
          <a:xfrm>
            <a:off x="387900" y="3929365"/>
            <a:ext cx="85206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Ricardo Augusto Vicentini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Senior Software Engineer  - </a:t>
            </a: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Nubank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" name="Google Shape;36;p8"/>
          <p:cNvSpPr txBox="1"/>
          <p:nvPr>
            <p:ph idx="1" type="subTitle"/>
          </p:nvPr>
        </p:nvSpPr>
        <p:spPr>
          <a:xfrm>
            <a:off x="311700" y="1828950"/>
            <a:ext cx="85206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600">
                <a:solidFill>
                  <a:srgbClr val="EF86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Trabalhando</a:t>
            </a:r>
            <a:r>
              <a:rPr lang="en-US" sz="6600">
                <a:solidFill>
                  <a:srgbClr val="EF86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com Tipos Referência e Valor</a:t>
            </a:r>
            <a:endParaRPr sz="6600">
              <a:solidFill>
                <a:srgbClr val="EF86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8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8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1109702" y="305700"/>
            <a:ext cx="6924596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Mais sobre mim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11700" y="1333492"/>
            <a:ext cx="78606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Desenvolvedor desde 2002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Entrei na 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área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de desenvolvimento porque sempre gostei muito de </a:t>
            </a:r>
            <a:r>
              <a:rPr b="1" i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Games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Entusiasta da linguagem C#, escovador de bit 😉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Tenho Gatos, Cachorros e curto d+ Games e Aviões. 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9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7588" y="3904725"/>
            <a:ext cx="444850" cy="44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9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31463" y="3904725"/>
            <a:ext cx="444850" cy="44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9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83146" y="3882925"/>
            <a:ext cx="479274" cy="48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do curso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7" name="Google Shape;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 txBox="1"/>
          <p:nvPr>
            <p:ph idx="1" type="subTitle"/>
          </p:nvPr>
        </p:nvSpPr>
        <p:spPr>
          <a:xfrm>
            <a:off x="641700" y="1347754"/>
            <a:ext cx="7860600" cy="3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Entender a diferença entre utilizar variáveis por 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referência e valor, será fundamental para entender como o compilador executa o código que você escrever. Ou seja, sem entender esse conceito fundamental um desenvolvedor terá muitos problemas para descobrir </a:t>
            </a:r>
            <a:r>
              <a:rPr b="1" i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bugs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(Comportamento indesejado no código).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6985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t/>
            </a:r>
            <a:endParaRPr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6985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0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683568" y="1034430"/>
            <a:ext cx="1380000" cy="576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Aula 1</a:t>
            </a:r>
            <a:endParaRPr/>
          </a:p>
        </p:txBody>
      </p:sp>
      <p:sp>
        <p:nvSpPr>
          <p:cNvPr id="67" name="Google Shape;67;p11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1"/>
          <p:cNvSpPr/>
          <p:nvPr/>
        </p:nvSpPr>
        <p:spPr>
          <a:xfrm>
            <a:off x="2267752" y="1091625"/>
            <a:ext cx="323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Conceitos / Prática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683568" y="1750318"/>
            <a:ext cx="1380000" cy="576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Aula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1"/>
          <p:cNvSpPr/>
          <p:nvPr/>
        </p:nvSpPr>
        <p:spPr>
          <a:xfrm>
            <a:off x="2267744" y="1883718"/>
            <a:ext cx="25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Palavra chave </a:t>
            </a:r>
            <a:r>
              <a:rPr b="1" lang="en-US" sz="24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ref</a:t>
            </a:r>
            <a:endParaRPr b="1" i="0" sz="24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1"/>
          <p:cNvSpPr txBox="1"/>
          <p:nvPr/>
        </p:nvSpPr>
        <p:spPr>
          <a:xfrm>
            <a:off x="683568" y="2542406"/>
            <a:ext cx="1380000" cy="576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Aula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1"/>
          <p:cNvSpPr/>
          <p:nvPr/>
        </p:nvSpPr>
        <p:spPr>
          <a:xfrm>
            <a:off x="2267744" y="2675806"/>
            <a:ext cx="250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ref Struct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693168" y="3334481"/>
            <a:ext cx="1380000" cy="576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Aula </a:t>
            </a:r>
            <a:r>
              <a:rPr b="1" lang="en-US"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1"/>
          <p:cNvSpPr/>
          <p:nvPr/>
        </p:nvSpPr>
        <p:spPr>
          <a:xfrm>
            <a:off x="2277359" y="3467875"/>
            <a:ext cx="613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Comparação por Valor e por Referência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693168" y="4166606"/>
            <a:ext cx="1380000" cy="576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Aula </a:t>
            </a:r>
            <a:r>
              <a:rPr b="1" lang="en-US"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1"/>
          <p:cNvSpPr/>
          <p:nvPr/>
        </p:nvSpPr>
        <p:spPr>
          <a:xfrm>
            <a:off x="2277359" y="4272800"/>
            <a:ext cx="613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Garbage Collector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" name="Google Shape;82;p12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" name="Google Shape;83;p12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" name="Google Shape;84;p12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2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2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 txBox="1"/>
          <p:nvPr/>
        </p:nvSpPr>
        <p:spPr>
          <a:xfrm>
            <a:off x="467550" y="1484009"/>
            <a:ext cx="852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Aula 1: </a:t>
            </a:r>
            <a:r>
              <a:rPr b="1" lang="en-US"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Conceitos</a:t>
            </a:r>
            <a:endParaRPr b="1" i="0" sz="5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2987824" y="2339168"/>
            <a:ext cx="5797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por Referência e Valor</a:t>
            </a:r>
            <a:endParaRPr b="0" i="0" sz="3600" u="none" cap="none" strike="noStrike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Type System (CTS)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0775" y="979425"/>
            <a:ext cx="4829175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>
            <a:hlinkClick r:id="rId5"/>
          </p:cNvPr>
          <p:cNvSpPr txBox="1"/>
          <p:nvPr/>
        </p:nvSpPr>
        <p:spPr>
          <a:xfrm>
            <a:off x="0" y="4759400"/>
            <a:ext cx="914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700">
                <a:solidFill>
                  <a:srgbClr val="4A86E8"/>
                </a:solidFill>
              </a:rPr>
              <a:t>Fonte: https://docs.microsoft.com/en-us/dotnet/csharp/fundamentals/types/#the-common-type-system</a:t>
            </a:r>
            <a:endParaRPr i="1" sz="700">
              <a:solidFill>
                <a:srgbClr val="4A86E8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Definindo - Value Types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>
            <p:ph idx="1" type="subTitle"/>
          </p:nvPr>
        </p:nvSpPr>
        <p:spPr>
          <a:xfrm>
            <a:off x="311700" y="1722650"/>
            <a:ext cx="7860600" cy="20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Contém uma </a:t>
            </a:r>
            <a:r>
              <a:rPr b="1" lang="en-US" sz="25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INSTÂNCIA </a:t>
            </a: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do tipo criado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instância sempre é copiada ao atribuir o valor para outra variável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Alocação na Stack (melhor performance)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 v</a:t>
            </a: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alor inicial é sempre o valor default de cada tipo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Definindo - Reference</a:t>
            </a: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Types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311700" y="1722650"/>
            <a:ext cx="7860600" cy="20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Contém uma </a:t>
            </a:r>
            <a:r>
              <a:rPr b="1" lang="en-US" sz="24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REFERÊNCIA</a:t>
            </a: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para uma instância do tipo criado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referência nunca muda ao atribuir o valor para outra variável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Na STACK fica um ponteiro e a a</a:t>
            </a: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locação na HEAP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Seu valor inicial é sempre “</a:t>
            </a: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Requer gerenciamento da Memória através do GC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 Types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>
            <p:ph idx="1" type="subTitle"/>
          </p:nvPr>
        </p:nvSpPr>
        <p:spPr>
          <a:xfrm>
            <a:off x="311700" y="1722650"/>
            <a:ext cx="7860600" cy="20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Tipos primitivos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Valores numéricos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■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■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■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double, etc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Boolean (true/false)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Char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Tuples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 </a:t>
            </a: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>
            <p:ph idx="1" type="subTitle"/>
          </p:nvPr>
        </p:nvSpPr>
        <p:spPr>
          <a:xfrm>
            <a:off x="311700" y="1722650"/>
            <a:ext cx="7860600" cy="20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Classe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Delegate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Record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7" name="Google Shape;137;p18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18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7226" y="1022076"/>
            <a:ext cx="6663000" cy="340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8"/>
          <p:cNvGrpSpPr/>
          <p:nvPr/>
        </p:nvGrpSpPr>
        <p:grpSpPr>
          <a:xfrm>
            <a:off x="2959437" y="1109913"/>
            <a:ext cx="3225125" cy="3225125"/>
            <a:chOff x="2959438" y="579176"/>
            <a:chExt cx="3225125" cy="3225125"/>
          </a:xfrm>
        </p:grpSpPr>
        <p:pic>
          <p:nvPicPr>
            <p:cNvPr id="146" name="Google Shape;146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59437" y="579176"/>
              <a:ext cx="3225125" cy="322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8"/>
            <p:cNvSpPr txBox="1"/>
            <p:nvPr/>
          </p:nvSpPr>
          <p:spPr>
            <a:xfrm>
              <a:off x="3945150" y="2803450"/>
              <a:ext cx="1253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PARABÉNS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Criar uma Console application que receba um valor inteiro na Main;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Criar um método void que receba esse inteiro e altere o seu valor para qualquer outro; 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De volta ao Main exiba no terminal o valor alterado;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Criar uma Console application e uma classe Pessoa com os seguintes atributos “Nome”, “Idade” e “Documento”. 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No Main crie uma instância de Pessoa atribuindo a essas propriedades, seu nome e sua idade; 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Crie um método void para alterar o Nome do objeto Pessoa;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De volta ao Main exiba no terminal o nome alterado;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Mostrar na prática diferença entre atribuir uma instância para um Value Type e Reference Type.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Criar uma Console application com uma variável do tipo string e atribua seu nome a esta variável; 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Crie um método void que receba essa variável e altere esse valor;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No Main escreva no terminal o valor alterado;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5" name="Google Shape;1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Criar uma Console application com uma variável do tipo array de int para armazenar os 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números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pares de 0 a 8; 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Crie um método void que receba essa variável e altere o conteúdo desse array para que nele fique armazenado o próximo número inteiro 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ímpar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de cada  elemento;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No Main escreva no terminal todos os números desse array;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3" name="Google Shape;1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4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Criar uma Console application para encontrar um número inteiro em um array;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p25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25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7226" y="1022076"/>
            <a:ext cx="6663000" cy="340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25"/>
          <p:cNvGrpSpPr/>
          <p:nvPr/>
        </p:nvGrpSpPr>
        <p:grpSpPr>
          <a:xfrm>
            <a:off x="2959437" y="1109913"/>
            <a:ext cx="3225125" cy="3225125"/>
            <a:chOff x="2959438" y="579176"/>
            <a:chExt cx="3225125" cy="3225125"/>
          </a:xfrm>
        </p:grpSpPr>
        <p:pic>
          <p:nvPicPr>
            <p:cNvPr id="210" name="Google Shape;210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59437" y="579176"/>
              <a:ext cx="3225125" cy="322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25"/>
            <p:cNvSpPr txBox="1"/>
            <p:nvPr/>
          </p:nvSpPr>
          <p:spPr>
            <a:xfrm>
              <a:off x="3945150" y="2803450"/>
              <a:ext cx="1253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Level UP! </a:t>
              </a:r>
              <a:endParaRPr/>
            </a:p>
          </p:txBody>
        </p:sp>
      </p:grpSp>
      <p:pic>
        <p:nvPicPr>
          <p:cNvPr id="212" name="Google Shape;212;p25" title="round_end.wa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4225" y="32674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Review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8" name="Google Shape;2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6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6"/>
          <p:cNvSpPr txBox="1"/>
          <p:nvPr>
            <p:ph idx="1" type="subTitle"/>
          </p:nvPr>
        </p:nvSpPr>
        <p:spPr>
          <a:xfrm>
            <a:off x="283475" y="897000"/>
            <a:ext cx="7860600" cy="3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 que são Value e Reference Types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Onde o CLR aloca Value e Reference Types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Quais os principais objetos tratados como Value Types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Quais os principais objetos tratados como Reference Types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Como difrenciá-los 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Documentação: </a:t>
            </a:r>
            <a:r>
              <a:rPr i="1" lang="en-US" sz="1300" u="sng">
                <a:solidFill>
                  <a:schemeClr val="hlink"/>
                </a:solidFill>
                <a:hlinkClick r:id="rId4"/>
              </a:rPr>
              <a:t>https://docs.microsoft.com/en-us/dotnet/csharp/fundamentals/types/#the-common-type-system</a:t>
            </a:r>
            <a:endParaRPr i="1" sz="1300">
              <a:solidFill>
                <a:srgbClr val="4A86E8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Código das demos: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 u="sng">
                <a:solidFill>
                  <a:schemeClr val="hlink"/>
                </a:solidFill>
                <a:hlinkClick r:id="rId5"/>
              </a:rPr>
              <a:t>https://github.com/ricardovicentini/Demos-Reference-And-Value-Types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p27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p27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7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467550" y="1484009"/>
            <a:ext cx="852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Aula </a:t>
            </a:r>
            <a:r>
              <a:rPr b="1" lang="en-US"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b="1" lang="en-US"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“ref” keyword</a:t>
            </a:r>
            <a:endParaRPr b="1" i="0" sz="5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2987824" y="2339168"/>
            <a:ext cx="5797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por Referência e Valor</a:t>
            </a:r>
            <a:endParaRPr b="0" i="0" sz="3600" u="none" cap="none" strike="noStrike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659912" y="305700"/>
            <a:ext cx="85206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4000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Utilização</a:t>
            </a:r>
            <a:endParaRPr b="1" sz="4000">
              <a:solidFill>
                <a:srgbClr val="0020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0" name="Google Shape;24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243900" y="2100000"/>
            <a:ext cx="8249100" cy="24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ref indica que o conteúdo de determinada variável acessado será acessado por referência.</a:t>
            </a:r>
            <a:endParaRPr b="1" sz="24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76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 pode ser usada em 4 situações</a:t>
            </a:r>
            <a:b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400" u="none" cap="none" strike="noStrike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8" name="Google Shape;2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 txBox="1"/>
          <p:nvPr>
            <p:ph idx="1" type="subTitle"/>
          </p:nvPr>
        </p:nvSpPr>
        <p:spPr>
          <a:xfrm>
            <a:off x="311700" y="1333492"/>
            <a:ext cx="8148600" cy="29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23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Na declaração dos parâmetros do método e na chamada do método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Na declaração do retorno do método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No corpo do método para receber um retorno com ref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 na declaração de uma Struct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6" name="Google Shape;25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0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0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Exemplificar com ref no 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parâmetro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entrada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o mesmo que fizemos na Demo 1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4" name="Google Shape;26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Criar um array de string com nomes, permitir que o usuário localize e altere um nome dentro do array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" name="Google Shape;272;p32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32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2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2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2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7226" y="1022076"/>
            <a:ext cx="6663000" cy="340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32"/>
          <p:cNvGrpSpPr/>
          <p:nvPr/>
        </p:nvGrpSpPr>
        <p:grpSpPr>
          <a:xfrm>
            <a:off x="2959437" y="1109913"/>
            <a:ext cx="3225125" cy="3225125"/>
            <a:chOff x="2959438" y="579176"/>
            <a:chExt cx="3225125" cy="3225125"/>
          </a:xfrm>
        </p:grpSpPr>
        <p:pic>
          <p:nvPicPr>
            <p:cNvPr id="281" name="Google Shape;281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59437" y="579176"/>
              <a:ext cx="3225125" cy="322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32"/>
            <p:cNvSpPr txBox="1"/>
            <p:nvPr/>
          </p:nvSpPr>
          <p:spPr>
            <a:xfrm>
              <a:off x="3945150" y="2803450"/>
              <a:ext cx="1253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Level UP! </a:t>
              </a:r>
              <a:endParaRPr/>
            </a:p>
          </p:txBody>
        </p:sp>
      </p:grpSp>
      <p:pic>
        <p:nvPicPr>
          <p:cNvPr id="283" name="Google Shape;283;p32" title="round_end.wa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4225" y="32674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3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Review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9" name="Google Shape;2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3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3"/>
          <p:cNvSpPr txBox="1"/>
          <p:nvPr>
            <p:ph idx="1" type="subTitle"/>
          </p:nvPr>
        </p:nvSpPr>
        <p:spPr>
          <a:xfrm>
            <a:off x="311700" y="1920050"/>
            <a:ext cx="78606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nos parâmetros de entrada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no retorno dos métodos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documentação: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https://docs.microsoft.com/en-us/dotnet/csharp/language-reference/keywords/ref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3"/>
          <p:cNvSpPr txBox="1"/>
          <p:nvPr/>
        </p:nvSpPr>
        <p:spPr>
          <a:xfrm>
            <a:off x="311700" y="1324400"/>
            <a:ext cx="403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Utilizando palavra chave “ref”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p34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9" name="Google Shape;299;p34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p34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4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4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4"/>
          <p:cNvSpPr txBox="1"/>
          <p:nvPr/>
        </p:nvSpPr>
        <p:spPr>
          <a:xfrm>
            <a:off x="467550" y="1484009"/>
            <a:ext cx="852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Aula </a:t>
            </a:r>
            <a:r>
              <a:rPr b="1" lang="en-US"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b="1" lang="en-US"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 struct</a:t>
            </a:r>
            <a:endParaRPr b="1" i="0" sz="5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6" name="Google Shape;306;p34"/>
          <p:cNvSpPr txBox="1"/>
          <p:nvPr/>
        </p:nvSpPr>
        <p:spPr>
          <a:xfrm>
            <a:off x="2987824" y="2339168"/>
            <a:ext cx="5797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por Referência e Valor</a:t>
            </a:r>
            <a:endParaRPr b="0" i="0" sz="3600" u="none" cap="none" strike="noStrike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5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2" name="Google Shape;3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5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5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“ref struct” serve para assegurar que a struct ficará na stack e nunca irá para a Heap.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Limitações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0" name="Google Shape;32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6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6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6"/>
          <p:cNvSpPr txBox="1"/>
          <p:nvPr>
            <p:ph idx="1" type="subTitle"/>
          </p:nvPr>
        </p:nvSpPr>
        <p:spPr>
          <a:xfrm>
            <a:off x="311700" y="1722650"/>
            <a:ext cx="7860600" cy="20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ref struct </a:t>
            </a: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não pode</a:t>
            </a: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ser elemento tipado de um array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ser o tipo em campo em uma classe ou não-ref struct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implementar interfaces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ser convertida para Object e nem para Value Type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ser usada em métodos assíncronos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Então, quando usar?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9" name="Google Shape;32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7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7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7"/>
          <p:cNvSpPr txBox="1"/>
          <p:nvPr>
            <p:ph idx="1" type="subTitle"/>
          </p:nvPr>
        </p:nvSpPr>
        <p:spPr>
          <a:xfrm>
            <a:off x="311700" y="1722650"/>
            <a:ext cx="7860600" cy="20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Quando for necessário garantir que a instância da struct não irá acessar a Heap.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Quando for usar tipos do c# que são ref struct, como o caso do ref struct Span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8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38" name="Google Shape;33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8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8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Vamos construir uma ref struct e tentar utilizá-la em uma classe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Vamos tentar usar um Span em uma não-ref struct 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9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6" name="Google Shape;346;p39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7" name="Google Shape;347;p39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8" name="Google Shape;348;p39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9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9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9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7226" y="1022076"/>
            <a:ext cx="6663000" cy="340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39"/>
          <p:cNvGrpSpPr/>
          <p:nvPr/>
        </p:nvGrpSpPr>
        <p:grpSpPr>
          <a:xfrm>
            <a:off x="2959437" y="1109913"/>
            <a:ext cx="3225125" cy="3225125"/>
            <a:chOff x="2959438" y="579176"/>
            <a:chExt cx="3225125" cy="3225125"/>
          </a:xfrm>
        </p:grpSpPr>
        <p:pic>
          <p:nvPicPr>
            <p:cNvPr id="355" name="Google Shape;355;p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59437" y="579176"/>
              <a:ext cx="3225125" cy="322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" name="Google Shape;356;p39"/>
            <p:cNvSpPr txBox="1"/>
            <p:nvPr/>
          </p:nvSpPr>
          <p:spPr>
            <a:xfrm>
              <a:off x="3945150" y="2803450"/>
              <a:ext cx="1253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Level UP! </a:t>
              </a:r>
              <a:endParaRPr/>
            </a:p>
          </p:txBody>
        </p:sp>
      </p:grpSp>
      <p:pic>
        <p:nvPicPr>
          <p:cNvPr id="357" name="Google Shape;357;p39" title="round_end.wa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4225" y="32674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Review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3" name="Google Shape;3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0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0"/>
          <p:cNvSpPr txBox="1"/>
          <p:nvPr>
            <p:ph idx="1" type="subTitle"/>
          </p:nvPr>
        </p:nvSpPr>
        <p:spPr>
          <a:xfrm>
            <a:off x="311700" y="1920050"/>
            <a:ext cx="78606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 que é um ref struct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Onde são alocados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suas limitações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documentação: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https://docs.microsoft.com/en-us/dotnet/api/system.span-1?view=net-5.0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0"/>
          <p:cNvSpPr txBox="1"/>
          <p:nvPr/>
        </p:nvSpPr>
        <p:spPr>
          <a:xfrm>
            <a:off x="311700" y="1023075"/>
            <a:ext cx="403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ref struct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1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2" name="Google Shape;372;p41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3" name="Google Shape;373;p41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4" name="Google Shape;374;p41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1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1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1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1"/>
          <p:cNvSpPr txBox="1"/>
          <p:nvPr/>
        </p:nvSpPr>
        <p:spPr>
          <a:xfrm>
            <a:off x="467550" y="1484009"/>
            <a:ext cx="852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Aula </a:t>
            </a:r>
            <a:r>
              <a:rPr b="1" lang="en-US"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b="1" lang="en-US"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Comparaçao</a:t>
            </a:r>
            <a:endParaRPr b="1" i="0" sz="5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41"/>
          <p:cNvSpPr txBox="1"/>
          <p:nvPr/>
        </p:nvSpPr>
        <p:spPr>
          <a:xfrm>
            <a:off x="2987824" y="2528468"/>
            <a:ext cx="5797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por Referência e Valor</a:t>
            </a:r>
            <a:endParaRPr b="0" i="0" sz="3600" u="none" cap="none" strike="noStrike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86" name="Google Shape;3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2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2"/>
          <p:cNvSpPr txBox="1"/>
          <p:nvPr/>
        </p:nvSpPr>
        <p:spPr>
          <a:xfrm>
            <a:off x="354275" y="1318695"/>
            <a:ext cx="847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Agora que aprendemos a diferença entre Value Types e Reference types, vamos entender o funcionamento do CLR ao comparar esses tipos.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2"/>
          <p:cNvSpPr txBox="1"/>
          <p:nvPr/>
        </p:nvSpPr>
        <p:spPr>
          <a:xfrm>
            <a:off x="637675" y="2971175"/>
            <a:ext cx="203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Value Types</a:t>
            </a:r>
            <a:endParaRPr/>
          </a:p>
        </p:txBody>
      </p:sp>
      <p:sp>
        <p:nvSpPr>
          <p:cNvPr id="390" name="Google Shape;390;p42"/>
          <p:cNvSpPr txBox="1"/>
          <p:nvPr/>
        </p:nvSpPr>
        <p:spPr>
          <a:xfrm>
            <a:off x="637675" y="3371375"/>
            <a:ext cx="203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instância = a instância</a:t>
            </a:r>
            <a:endParaRPr/>
          </a:p>
        </p:txBody>
      </p:sp>
      <p:sp>
        <p:nvSpPr>
          <p:cNvPr id="391" name="Google Shape;391;p42"/>
          <p:cNvSpPr txBox="1"/>
          <p:nvPr/>
        </p:nvSpPr>
        <p:spPr>
          <a:xfrm>
            <a:off x="6192850" y="3033400"/>
            <a:ext cx="203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r>
              <a:rPr lang="en-US"/>
              <a:t> Types</a:t>
            </a:r>
            <a:endParaRPr/>
          </a:p>
        </p:txBody>
      </p:sp>
      <p:sp>
        <p:nvSpPr>
          <p:cNvPr id="392" name="Google Shape;392;p42"/>
          <p:cNvSpPr txBox="1"/>
          <p:nvPr/>
        </p:nvSpPr>
        <p:spPr>
          <a:xfrm>
            <a:off x="6192850" y="3433600"/>
            <a:ext cx="227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referência </a:t>
            </a:r>
            <a:r>
              <a:rPr lang="en-US"/>
              <a:t>= a referência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8" name="Google Shape;398;p43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9" name="Google Shape;399;p43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0" name="Google Shape;400;p43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3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3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3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7226" y="1022076"/>
            <a:ext cx="6663000" cy="340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6" name="Google Shape;406;p43"/>
          <p:cNvGrpSpPr/>
          <p:nvPr/>
        </p:nvGrpSpPr>
        <p:grpSpPr>
          <a:xfrm>
            <a:off x="2959437" y="1109913"/>
            <a:ext cx="3225125" cy="3225125"/>
            <a:chOff x="2959438" y="579176"/>
            <a:chExt cx="3225125" cy="3225125"/>
          </a:xfrm>
        </p:grpSpPr>
        <p:pic>
          <p:nvPicPr>
            <p:cNvPr id="407" name="Google Shape;407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59437" y="579176"/>
              <a:ext cx="3225125" cy="322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43"/>
            <p:cNvSpPr txBox="1"/>
            <p:nvPr/>
          </p:nvSpPr>
          <p:spPr>
            <a:xfrm>
              <a:off x="3945150" y="2803450"/>
              <a:ext cx="1253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Level UP! </a:t>
              </a:r>
              <a:endParaRPr/>
            </a:p>
          </p:txBody>
        </p:sp>
      </p:grpSp>
      <p:pic>
        <p:nvPicPr>
          <p:cNvPr id="409" name="Google Shape;409;p43" title="round_end.wa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4225" y="32674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4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5" name="Google Shape;415;p44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6" name="Google Shape;416;p44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7" name="Google Shape;417;p44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4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4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4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4"/>
          <p:cNvSpPr txBox="1"/>
          <p:nvPr/>
        </p:nvSpPr>
        <p:spPr>
          <a:xfrm>
            <a:off x="467550" y="1037476"/>
            <a:ext cx="8520600" cy="14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Aula </a:t>
            </a:r>
            <a:r>
              <a:rPr b="1" lang="en-US"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b="1" lang="en-US"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Garbage Collector</a:t>
            </a:r>
            <a:endParaRPr b="1" i="0" sz="5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3" name="Google Shape;423;p44"/>
          <p:cNvSpPr txBox="1"/>
          <p:nvPr/>
        </p:nvSpPr>
        <p:spPr>
          <a:xfrm>
            <a:off x="3034799" y="2787743"/>
            <a:ext cx="5797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por Referência e Valor</a:t>
            </a:r>
            <a:endParaRPr b="0" i="0" sz="3600" u="none" cap="none" strike="noStrike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GC - </a:t>
            </a: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29" name="Google Shape;42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5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suporte para a criação e destruição de objetos na Heap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6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Vantagens - GC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37" name="Google Shape;43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6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6"/>
          <p:cNvSpPr txBox="1"/>
          <p:nvPr>
            <p:ph idx="1" type="subTitle"/>
          </p:nvPr>
        </p:nvSpPr>
        <p:spPr>
          <a:xfrm>
            <a:off x="311700" y="1920050"/>
            <a:ext cx="78606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Segurança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Programador não precisa se preocupar com a liberação de memória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Nem com sobrescrita de memória em uso.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Desv</a:t>
            </a: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antagens - GC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45" name="Google Shape;4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7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7"/>
          <p:cNvSpPr txBox="1"/>
          <p:nvPr>
            <p:ph idx="1" type="subTitle"/>
          </p:nvPr>
        </p:nvSpPr>
        <p:spPr>
          <a:xfrm>
            <a:off x="311700" y="1920050"/>
            <a:ext cx="78606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Observabilidade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8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Arquitetura</a:t>
            </a: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GC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53" name="Google Shape;4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8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8"/>
          <p:cNvSpPr txBox="1"/>
          <p:nvPr>
            <p:ph idx="1" type="subTitle"/>
          </p:nvPr>
        </p:nvSpPr>
        <p:spPr>
          <a:xfrm>
            <a:off x="311700" y="1920050"/>
            <a:ext cx="78606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 GC é dividido em 3 Gerações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Gen 1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■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Objetos de ciclo de vida curto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Gen 2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■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Buffer de alternância entre Gen 1 e Gen 3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○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Gen 3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9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■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Objetos com longo ciclo de vida em especial objetos criados como “static”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9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1" name="Google Shape;461;p49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2" name="Google Shape;462;p49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49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9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9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9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7226" y="1022076"/>
            <a:ext cx="6663000" cy="340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9" name="Google Shape;469;p49"/>
          <p:cNvGrpSpPr/>
          <p:nvPr/>
        </p:nvGrpSpPr>
        <p:grpSpPr>
          <a:xfrm>
            <a:off x="2959437" y="1109913"/>
            <a:ext cx="3225125" cy="3225125"/>
            <a:chOff x="2959438" y="579176"/>
            <a:chExt cx="3225125" cy="3225125"/>
          </a:xfrm>
        </p:grpSpPr>
        <p:pic>
          <p:nvPicPr>
            <p:cNvPr id="470" name="Google Shape;470;p4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59437" y="579176"/>
              <a:ext cx="3225125" cy="322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49"/>
            <p:cNvSpPr txBox="1"/>
            <p:nvPr/>
          </p:nvSpPr>
          <p:spPr>
            <a:xfrm>
              <a:off x="3945150" y="2803450"/>
              <a:ext cx="1253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Level UP! </a:t>
              </a:r>
              <a:endParaRPr/>
            </a:p>
          </p:txBody>
        </p:sp>
      </p:grpSp>
      <p:pic>
        <p:nvPicPr>
          <p:cNvPr id="472" name="Google Shape;472;p49" title="round_end.wa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4225" y="32674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0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Review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78" name="Google Shape;47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0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0"/>
          <p:cNvSpPr txBox="1"/>
          <p:nvPr>
            <p:ph idx="1" type="subTitle"/>
          </p:nvPr>
        </p:nvSpPr>
        <p:spPr>
          <a:xfrm>
            <a:off x="311700" y="1147963"/>
            <a:ext cx="7860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Proxima Nova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 que são Reference e Value Types e seu comportamento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Demos sobre alocação na stack e na Heap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Boas práticas na criação de classes, structs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 palavra chave ref em </a:t>
            </a: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parâmetros</a:t>
            </a: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de entrada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 palavra chave ref no retorno de métodos e na atribuição de variáveis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Comportamento do CLR ao comparar value e reference types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 que é e como é o funcionamento básico do GC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1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Documentação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86" name="Google Shape;48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1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51"/>
          <p:cNvSpPr txBox="1"/>
          <p:nvPr>
            <p:ph idx="1" type="subTitle"/>
          </p:nvPr>
        </p:nvSpPr>
        <p:spPr>
          <a:xfrm>
            <a:off x="311700" y="1147963"/>
            <a:ext cx="7860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https://docs.microsoft.com/pt-br/dotnet/csharp/language-reference/keywords/reference-types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2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Github - 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94" name="Google Shape;49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2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2"/>
          <p:cNvSpPr txBox="1"/>
          <p:nvPr>
            <p:ph idx="1" type="subTitle"/>
          </p:nvPr>
        </p:nvSpPr>
        <p:spPr>
          <a:xfrm>
            <a:off x="311700" y="1147963"/>
            <a:ext cx="7860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https://github.com/ricardovicentini/Reference-Type-And-Value-Type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50" y="176400"/>
            <a:ext cx="7525200" cy="489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